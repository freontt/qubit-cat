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1089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965036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814589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3877614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8357069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6671243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6647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10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5000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6594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3087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318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5347F-C071-5F90-BE04-BD32DAE9FC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637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169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873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70359A-DC6B-AF20-FBA5-70D071A192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8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5108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24609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F8A50-E676-A57F-D003-893E983027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8412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7638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1227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443B93-4AA3-B1D1-0660-46030F56B8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9655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3258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4998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547B85-C74C-A154-398A-62819F0BC9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953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051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9969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8506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2905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298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EAE13E-6134-846D-6025-69E1F9BD3C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571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471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537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C26CED-E4A3-598C-8E06-FD3AAC7D38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24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887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2947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7A2DA2-C652-02C2-B64D-CF32C41AF2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061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00406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804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003CDF-936C-FFF8-4D87-B92EE360DD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8593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8371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840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56B043-CD8A-1F89-52CA-39923C57AA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45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43051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9252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80230B-47BA-A5AC-ECF1-71C9C11AD4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7568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97032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400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04FD65-A7AE-346A-1D49-DAF04E774E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327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5048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94955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D2BF3A-FA1E-4AA4-8367-D4CDB01884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886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4879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847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16BC3E-E84F-38FF-6BAF-381F56D8C7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009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4847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199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E580DF-D983-038B-3FD8-5186326D99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666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8187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85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922F13-D634-6DAE-3B1B-63DA8B381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089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9094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627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0602F8-5B9A-1482-DDDA-CE67692C58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559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52519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376554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200461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66384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2859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292829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5939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696195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65223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22994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016252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90540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233882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14097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5081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4670910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6275699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281667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11807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85127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1691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816122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8290059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573417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4774747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7359121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3877664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201812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5073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1135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8433821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432734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51097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9199976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305002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6441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238182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46660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991493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2467397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125630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5600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93867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1684088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0445814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52509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26407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4662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472329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12485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34145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49823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51212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89609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53683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208704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1474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70525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89154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1269721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976152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416314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3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3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3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3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3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3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Relationship Id="rId4" Type="http://schemas.openxmlformats.org/officeDocument/2006/relationships/image" Target="../media/image3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3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image" Target="../media/image3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Relationship Id="rId4" Type="http://schemas.openxmlformats.org/officeDocument/2006/relationships/image" Target="../media/image3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Relationship Id="rId4" Type="http://schemas.openxmlformats.org/officeDocument/2006/relationships/image" Target="../media/image3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1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3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jpg"/><Relationship Id="rId4" Type="http://schemas.openxmlformats.org/officeDocument/2006/relationships/image" Target="../media/image21.png"/><Relationship Id="rId5" Type="http://schemas.openxmlformats.org/officeDocument/2006/relationships/image" Target="../media/image3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alphaModFix amt="60000"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618187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ru-RU" sz="4800">
                <a:latin typeface="URW Gothic"/>
                <a:ea typeface="URW Gothic"/>
                <a:cs typeface="URW Gothic"/>
              </a:rPr>
              <a:t>Проект</a:t>
            </a:r>
            <a:r>
              <a:rPr lang="en-US" sz="4800">
                <a:latin typeface="URW Gothic"/>
                <a:ea typeface="URW Gothic"/>
                <a:cs typeface="URW Gothic"/>
              </a:rPr>
              <a:t>:</a:t>
            </a:r>
            <a:r>
              <a:rPr lang="ru-RU" sz="4800">
                <a:latin typeface="URW Gothic"/>
                <a:ea typeface="URW Gothic"/>
                <a:cs typeface="URW Gothic"/>
              </a:rPr>
              <a:t> Высоконастраиваемый чат с криптографией</a:t>
            </a:r>
            <a:endParaRPr sz="4800"/>
          </a:p>
        </p:txBody>
      </p:sp>
      <p:sp>
        <p:nvSpPr>
          <p:cNvPr id="160039925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602037"/>
            <a:ext cx="9144000" cy="23225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>
              <a:defRPr/>
            </a:pPr>
            <a:endParaRPr sz="2800">
              <a:latin typeface="URW Gothic"/>
              <a:cs typeface="URW Gothic"/>
            </a:endParaRPr>
          </a:p>
          <a:p>
            <a:pPr algn="l">
              <a:defRPr/>
            </a:pPr>
            <a:r>
              <a:rPr lang="ru-RU" sz="2800">
                <a:latin typeface="URW Gothic"/>
                <a:ea typeface="URW Gothic"/>
                <a:cs typeface="URW Gothic"/>
              </a:rPr>
              <a:t>Выполнил</a:t>
            </a:r>
            <a:r>
              <a:rPr lang="en-US" sz="2800">
                <a:latin typeface="URW Gothic"/>
                <a:ea typeface="URW Gothic"/>
                <a:cs typeface="URW Gothic"/>
              </a:rPr>
              <a:t>:</a:t>
            </a:r>
            <a:br>
              <a:rPr lang="en-US" sz="2800">
                <a:latin typeface="URW Gothic"/>
                <a:ea typeface="URW Gothic"/>
                <a:cs typeface="URW Gothic"/>
              </a:rPr>
            </a:br>
            <a:r>
              <a:rPr lang="ru-RU" sz="2800">
                <a:latin typeface="URW Gothic"/>
                <a:ea typeface="URW Gothic"/>
                <a:cs typeface="URW Gothic"/>
              </a:rPr>
              <a:t>Кудрявцев Матвей</a:t>
            </a:r>
            <a:br>
              <a:rPr lang="ru-RU" sz="2800">
                <a:latin typeface="URW Gothic"/>
                <a:ea typeface="URW Gothic"/>
                <a:cs typeface="URW Gothic"/>
              </a:rPr>
            </a:br>
            <a:r>
              <a:rPr lang="ru-RU" sz="2800">
                <a:latin typeface="URW Gothic"/>
                <a:ea typeface="URW Gothic"/>
                <a:cs typeface="URW Gothic"/>
              </a:rPr>
              <a:t>группа Д-Э 311</a:t>
            </a:r>
            <a:endParaRPr sz="2800">
              <a:latin typeface="URW Gothic"/>
              <a:cs typeface="URW Gothic"/>
            </a:endParaRPr>
          </a:p>
        </p:txBody>
      </p:sp>
      <p:sp>
        <p:nvSpPr>
          <p:cNvPr id="1079796711" name=""/>
          <p:cNvSpPr/>
          <p:nvPr/>
        </p:nvSpPr>
        <p:spPr bwMode="auto">
          <a:xfrm rot="0" flipH="0" flipV="0">
            <a:off x="1949" y="-2038"/>
            <a:ext cx="12191999" cy="6862077"/>
          </a:xfrm>
          <a:prstGeom prst="flowChartProcess">
            <a:avLst/>
          </a:prstGeom>
          <a:noFill/>
          <a:ln w="76199" cap="flat" cmpd="sng" algn="ctr">
            <a:solidFill>
              <a:schemeClr val="accent1">
                <a:shade val="50000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81269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92999" y="0"/>
            <a:ext cx="7638194" cy="6832217"/>
          </a:xfrm>
          <a:prstGeom prst="rect">
            <a:avLst/>
          </a:prstGeom>
        </p:spPr>
      </p:pic>
      <p:sp>
        <p:nvSpPr>
          <p:cNvPr id="715875746" name=""/>
          <p:cNvSpPr txBox="1"/>
          <p:nvPr/>
        </p:nvSpPr>
        <p:spPr bwMode="auto">
          <a:xfrm rot="0" flipH="0" flipV="0">
            <a:off x="694964" y="609779"/>
            <a:ext cx="253472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lang="ru-RU" sz="3600">
                <a:latin typeface="URW Gothic"/>
                <a:ea typeface="URW Gothic"/>
                <a:cs typeface="URW Gothic"/>
              </a:rPr>
              <a:t>Проблема</a:t>
            </a:r>
            <a:endParaRPr/>
          </a:p>
        </p:txBody>
      </p:sp>
      <p:sp>
        <p:nvSpPr>
          <p:cNvPr id="178400859" name=""/>
          <p:cNvSpPr txBox="1"/>
          <p:nvPr/>
        </p:nvSpPr>
        <p:spPr bwMode="auto">
          <a:xfrm rot="0" flipH="0" flipV="0">
            <a:off x="694964" y="2209619"/>
            <a:ext cx="5365679" cy="2438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В наше время люди не имеют приватности в условиях сбора огромного числа данных со стороны крупных организаций и злоумышленников, что вредит как культуре интернета в целом, так и каждому человеку по отдельности.</a:t>
            </a:r>
            <a:endParaRPr>
              <a:latin typeface="Verdana"/>
              <a:cs typeface="Verdana"/>
            </a:endParaRPr>
          </a:p>
        </p:txBody>
      </p:sp>
      <p:sp>
        <p:nvSpPr>
          <p:cNvPr id="121032820" name=""/>
          <p:cNvSpPr/>
          <p:nvPr/>
        </p:nvSpPr>
        <p:spPr bwMode="auto">
          <a:xfrm rot="0" flipH="0" flipV="0">
            <a:off x="516298" y="5657848"/>
            <a:ext cx="857250" cy="838198"/>
          </a:xfrm>
          <a:prstGeom prst="flowChartProcess">
            <a:avLst/>
          </a:prstGeom>
          <a:blipFill>
            <a:blip r:embed="rId4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8922244" name=""/>
          <p:cNvPicPr>
            <a:picLocks noChangeAspect="1"/>
          </p:cNvPicPr>
          <p:nvPr/>
        </p:nvPicPr>
        <p:blipFill rotWithShape="1">
          <a:blip r:embed="rId3"/>
          <a:srcRect l="0" t="5334" r="0" b="5334"/>
        </p:blipFill>
        <p:spPr bwMode="auto">
          <a:xfrm flipH="0" flipV="0">
            <a:off x="6331849" y="-19049"/>
            <a:ext cx="5899344" cy="6915150"/>
          </a:xfrm>
          <a:prstGeom prst="rect">
            <a:avLst/>
          </a:prstGeom>
        </p:spPr>
      </p:pic>
      <p:sp>
        <p:nvSpPr>
          <p:cNvPr id="1377530550" name=""/>
          <p:cNvSpPr txBox="1"/>
          <p:nvPr/>
        </p:nvSpPr>
        <p:spPr bwMode="auto">
          <a:xfrm rot="0" flipH="0" flipV="0">
            <a:off x="694964" y="613019"/>
            <a:ext cx="441310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lang="ru-RU" sz="3600">
                <a:latin typeface="URW Gothic"/>
                <a:ea typeface="URW Gothic"/>
                <a:cs typeface="URW Gothic"/>
              </a:rPr>
              <a:t>Наше решение</a:t>
            </a:r>
            <a:endParaRPr/>
          </a:p>
        </p:txBody>
      </p:sp>
      <p:sp>
        <p:nvSpPr>
          <p:cNvPr id="758204100" name=""/>
          <p:cNvSpPr txBox="1"/>
          <p:nvPr/>
        </p:nvSpPr>
        <p:spPr bwMode="auto">
          <a:xfrm rot="0" flipH="0" flipV="0">
            <a:off x="694964" y="1340939"/>
            <a:ext cx="5536319" cy="460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Создать открытое расширяемое приложение для передачи информации между людьми без смс и регистрации.</a:t>
            </a:r>
            <a:endParaRPr lang="ru-RU" sz="22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sz="22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2200">
                <a:latin typeface="Verdana"/>
                <a:ea typeface="Verdana"/>
                <a:cs typeface="Verdana"/>
              </a:rPr>
              <a:t>Это позволит</a:t>
            </a:r>
            <a:r>
              <a:rPr lang="en-US" sz="2200">
                <a:latin typeface="Verdana"/>
                <a:ea typeface="Verdana"/>
                <a:cs typeface="Verdana"/>
              </a:rPr>
              <a:t>:</a:t>
            </a:r>
            <a:endParaRPr lang="en-US" sz="2200">
              <a:latin typeface="Verdana"/>
              <a:ea typeface="Verdana"/>
              <a:cs typeface="Verdan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1439"/>
              </a:spcAft>
              <a:defRPr/>
            </a:pPr>
            <a:br>
              <a:rPr lang="ru-RU" sz="22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</a:br>
            <a:r>
              <a:rPr lang="ru-RU" sz="22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1.Исключит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ь утечку данных</a:t>
            </a:r>
            <a:endParaRPr sz="22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1439"/>
              </a:spcAft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2.Расширить исходный функционал</a:t>
            </a:r>
            <a:endParaRPr sz="22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1439"/>
              </a:spcAft>
              <a:defRPr/>
            </a:pPr>
            <a:r>
              <a:rPr lang="ru-RU" sz="2200">
                <a:latin typeface="Verdana"/>
                <a:ea typeface="Verdana"/>
                <a:cs typeface="Verdana"/>
              </a:rPr>
              <a:t>3.Иметь возможность общаться вне интернета</a:t>
            </a:r>
            <a:endParaRPr sz="2200">
              <a:latin typeface="Verdana"/>
              <a:cs typeface="Verdana"/>
            </a:endParaRPr>
          </a:p>
          <a:p>
            <a:pPr>
              <a:defRPr/>
            </a:pPr>
            <a:endParaRPr>
              <a:latin typeface="Verdana"/>
              <a:cs typeface="Verdana"/>
            </a:endParaRPr>
          </a:p>
        </p:txBody>
      </p:sp>
      <p:sp>
        <p:nvSpPr>
          <p:cNvPr id="1780779017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4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0023476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1" flipV="0">
            <a:off x="6331849" y="-19049"/>
            <a:ext cx="5899344" cy="6915150"/>
          </a:xfrm>
          <a:prstGeom prst="rect">
            <a:avLst/>
          </a:prstGeom>
        </p:spPr>
      </p:pic>
      <p:sp>
        <p:nvSpPr>
          <p:cNvPr id="1436605471" name=""/>
          <p:cNvSpPr txBox="1"/>
          <p:nvPr/>
        </p:nvSpPr>
        <p:spPr bwMode="auto">
          <a:xfrm rot="0" flipH="1" flipV="0">
            <a:off x="694964" y="614819"/>
            <a:ext cx="441670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lang="ru-RU" sz="3600">
                <a:latin typeface="URW Gothic"/>
                <a:ea typeface="URW Gothic"/>
                <a:cs typeface="URW Gothic"/>
              </a:rPr>
              <a:t>Цель</a:t>
            </a:r>
            <a:endParaRPr/>
          </a:p>
        </p:txBody>
      </p:sp>
      <p:sp>
        <p:nvSpPr>
          <p:cNvPr id="41711231" name=""/>
          <p:cNvSpPr txBox="1"/>
          <p:nvPr/>
        </p:nvSpPr>
        <p:spPr bwMode="auto">
          <a:xfrm rot="0" flipH="1" flipV="0">
            <a:off x="694964" y="2544899"/>
            <a:ext cx="5537759" cy="1768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Создать решение, которое будет отличаться исключительной безопасностью, а также поддерживаться сообществом для сообщества.</a:t>
            </a:r>
            <a:endParaRPr>
              <a:latin typeface="Verdana"/>
              <a:cs typeface="Verdana"/>
            </a:endParaRPr>
          </a:p>
        </p:txBody>
      </p:sp>
      <p:sp>
        <p:nvSpPr>
          <p:cNvPr id="1385629001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4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8278942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1" flipV="0">
            <a:off x="6331849" y="-19049"/>
            <a:ext cx="5899344" cy="6915150"/>
          </a:xfrm>
          <a:prstGeom prst="rect">
            <a:avLst/>
          </a:prstGeom>
        </p:spPr>
      </p:pic>
      <p:sp>
        <p:nvSpPr>
          <p:cNvPr id="2049618599" name=""/>
          <p:cNvSpPr txBox="1"/>
          <p:nvPr/>
        </p:nvSpPr>
        <p:spPr bwMode="auto">
          <a:xfrm rot="0" flipH="1" flipV="0">
            <a:off x="694964" y="616619"/>
            <a:ext cx="442030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lang="ru-RU" sz="3600">
                <a:latin typeface="URW Gothic"/>
                <a:ea typeface="URW Gothic"/>
                <a:cs typeface="URW Gothic"/>
              </a:rPr>
              <a:t>Задачи</a:t>
            </a:r>
            <a:endParaRPr/>
          </a:p>
        </p:txBody>
      </p:sp>
      <p:sp>
        <p:nvSpPr>
          <p:cNvPr id="329589192" name=""/>
          <p:cNvSpPr txBox="1"/>
          <p:nvPr/>
        </p:nvSpPr>
        <p:spPr bwMode="auto">
          <a:xfrm rot="0" flipH="1" flipV="0">
            <a:off x="714889" y="1735598"/>
            <a:ext cx="5633519" cy="338680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Разработать графическую часть для основного интерфейса.</a:t>
            </a:r>
            <a:endParaRPr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Реализовать или использовать алгоритмы шифрования.</a:t>
            </a:r>
            <a:endParaRPr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Настроить протоколы соединений.</a:t>
            </a:r>
            <a:endParaRPr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Разработать софт для удобной модификации основного продукта</a:t>
            </a:r>
            <a:r>
              <a:rPr lang="ru-RU" sz="1800"/>
              <a:t>.</a:t>
            </a:r>
            <a:endParaRPr sz="1800"/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Провести цикл тестирований</a:t>
            </a:r>
            <a:r>
              <a:rPr lang="ru-RU" sz="1800">
                <a:latin typeface="Verdana"/>
                <a:cs typeface="Verdana"/>
              </a:rPr>
              <a:t>.</a:t>
            </a:r>
            <a:endParaRPr>
              <a:latin typeface="Verdana"/>
              <a:cs typeface="Verdana"/>
            </a:endParaRPr>
          </a:p>
        </p:txBody>
      </p:sp>
      <p:sp>
        <p:nvSpPr>
          <p:cNvPr id="311497416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4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7689236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6331849" y="-19049"/>
            <a:ext cx="5899344" cy="6915150"/>
          </a:xfrm>
          <a:prstGeom prst="rect">
            <a:avLst/>
          </a:prstGeom>
        </p:spPr>
      </p:pic>
      <p:sp>
        <p:nvSpPr>
          <p:cNvPr id="875105061" name=""/>
          <p:cNvSpPr txBox="1"/>
          <p:nvPr/>
        </p:nvSpPr>
        <p:spPr bwMode="auto">
          <a:xfrm rot="0" flipH="1" flipV="0">
            <a:off x="694964" y="624719"/>
            <a:ext cx="443650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lang="ru-RU" sz="3600">
                <a:latin typeface="URW Gothic"/>
                <a:ea typeface="URW Gothic"/>
                <a:cs typeface="URW Gothic"/>
              </a:rPr>
              <a:t>Целевая аудитория</a:t>
            </a:r>
            <a:endParaRPr/>
          </a:p>
        </p:txBody>
      </p:sp>
      <p:sp>
        <p:nvSpPr>
          <p:cNvPr id="1013797629" name=""/>
          <p:cNvSpPr txBox="1"/>
          <p:nvPr/>
        </p:nvSpPr>
        <p:spPr bwMode="auto">
          <a:xfrm rot="0" flipH="1" flipV="0">
            <a:off x="714889" y="1371420"/>
            <a:ext cx="5650438" cy="39322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1.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Государственные деятели и дипломаты для защищённых переговоров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cs typeface="Verdana"/>
              </a:rPr>
              <a:t>.</a:t>
            </a:r>
            <a:endParaRPr lang="en-US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2.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Независимые журналисты и СМИ для конфиденциального общения с источниками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3.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Бизнесмены и корпорации для коммерческой тайны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4.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Активисты и правозащитники в странах с цензурой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5.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Обычные пользователи, ценящие приватность в личной переписке</a:t>
            </a:r>
            <a:r>
              <a:rPr lang="ru-RU">
                <a:latin typeface="Verdana"/>
                <a:cs typeface="Verdana"/>
              </a:rPr>
              <a:t>.</a:t>
            </a:r>
            <a:endParaRPr>
              <a:latin typeface="Verdana"/>
              <a:cs typeface="Verdana"/>
            </a:endParaRPr>
          </a:p>
        </p:txBody>
      </p:sp>
      <p:sp>
        <p:nvSpPr>
          <p:cNvPr id="559546675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4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3110741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6331849" y="-19049"/>
            <a:ext cx="5899344" cy="6915150"/>
          </a:xfrm>
          <a:prstGeom prst="rect">
            <a:avLst/>
          </a:prstGeom>
        </p:spPr>
      </p:pic>
      <p:sp>
        <p:nvSpPr>
          <p:cNvPr id="210841677" name=""/>
          <p:cNvSpPr txBox="1"/>
          <p:nvPr/>
        </p:nvSpPr>
        <p:spPr bwMode="auto">
          <a:xfrm rot="0" flipH="1" flipV="0">
            <a:off x="694964" y="627239"/>
            <a:ext cx="444154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lang="ru-RU" sz="3600">
                <a:latin typeface="URW Gothic"/>
                <a:ea typeface="URW Gothic"/>
                <a:cs typeface="URW Gothic"/>
              </a:rPr>
              <a:t>Наша философия</a:t>
            </a:r>
            <a:endParaRPr/>
          </a:p>
        </p:txBody>
      </p:sp>
      <p:sp>
        <p:nvSpPr>
          <p:cNvPr id="995512789" name=""/>
          <p:cNvSpPr txBox="1"/>
          <p:nvPr/>
        </p:nvSpPr>
        <p:spPr bwMode="auto">
          <a:xfrm rot="0" flipH="1" flipV="0">
            <a:off x="714889" y="1371420"/>
            <a:ext cx="5679239" cy="33836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1.Приватность по умолчанию.</a:t>
            </a:r>
            <a:endParaRPr lang="en-US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2.Безопасность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3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.Прозрачность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endParaRPr lang="en-US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4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.Децентрализация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endParaRPr lang="en-US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5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.Доступность.</a:t>
            </a:r>
            <a:endParaRPr lang="en-US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6.Расширяемость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endParaRPr>
              <a:latin typeface="Verdana"/>
              <a:cs typeface="Verdana"/>
            </a:endParaRPr>
          </a:p>
        </p:txBody>
      </p:sp>
      <p:sp>
        <p:nvSpPr>
          <p:cNvPr id="2142213628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4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6</a:t>
            </a:r>
            <a:endParaRPr lang="en-US" b="1">
              <a:solidFill>
                <a:schemeClr val="tx1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4447640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6331849" y="-19049"/>
            <a:ext cx="5899344" cy="6915150"/>
          </a:xfrm>
          <a:prstGeom prst="rect">
            <a:avLst/>
          </a:prstGeom>
        </p:spPr>
      </p:pic>
      <p:sp>
        <p:nvSpPr>
          <p:cNvPr id="1520517527" name=""/>
          <p:cNvSpPr txBox="1"/>
          <p:nvPr/>
        </p:nvSpPr>
        <p:spPr bwMode="auto">
          <a:xfrm rot="0" flipH="1" flipV="0">
            <a:off x="694964" y="634259"/>
            <a:ext cx="509890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lang="ru-RU" sz="3600">
                <a:latin typeface="URW Gothic"/>
                <a:ea typeface="URW Gothic"/>
                <a:cs typeface="URW Gothic"/>
              </a:rPr>
              <a:t>Возможности решения</a:t>
            </a:r>
            <a:endParaRPr/>
          </a:p>
        </p:txBody>
      </p:sp>
      <p:sp>
        <p:nvSpPr>
          <p:cNvPr id="655384693" name=""/>
          <p:cNvSpPr txBox="1"/>
          <p:nvPr/>
        </p:nvSpPr>
        <p:spPr bwMode="auto">
          <a:xfrm rot="0" flipH="1" flipV="0">
            <a:off x="714889" y="1371420"/>
            <a:ext cx="5704438" cy="405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№1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Безопасность</a:t>
            </a: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1.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End-to-end шифрование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2.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Протокол двойного криптографического затвора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3.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Проверка ключей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4.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Защита от MITM-атак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5.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Самоуничтожающиеся сообщения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endParaRPr>
              <a:latin typeface="Verdana"/>
              <a:cs typeface="Verdana"/>
            </a:endParaRPr>
          </a:p>
        </p:txBody>
      </p:sp>
      <p:sp>
        <p:nvSpPr>
          <p:cNvPr id="1323381404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4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7</a:t>
            </a:r>
            <a:endParaRPr lang="ru-RU" b="1">
              <a:solidFill>
                <a:schemeClr val="tx1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5726264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6331849" y="-19049"/>
            <a:ext cx="5899344" cy="6915150"/>
          </a:xfrm>
          <a:prstGeom prst="rect">
            <a:avLst/>
          </a:prstGeom>
        </p:spPr>
      </p:pic>
      <p:sp>
        <p:nvSpPr>
          <p:cNvPr id="883032784" name=""/>
          <p:cNvSpPr txBox="1"/>
          <p:nvPr/>
        </p:nvSpPr>
        <p:spPr bwMode="auto">
          <a:xfrm rot="0" flipH="1" flipV="0">
            <a:off x="694964" y="634259"/>
            <a:ext cx="509890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lang="ru-RU" sz="3600">
                <a:latin typeface="URW Gothic"/>
                <a:ea typeface="URW Gothic"/>
                <a:cs typeface="URW Gothic"/>
              </a:rPr>
              <a:t>Возможности решения</a:t>
            </a:r>
            <a:endParaRPr/>
          </a:p>
        </p:txBody>
      </p:sp>
      <p:sp>
        <p:nvSpPr>
          <p:cNvPr id="1340585688" name=""/>
          <p:cNvSpPr txBox="1"/>
          <p:nvPr/>
        </p:nvSpPr>
        <p:spPr bwMode="auto">
          <a:xfrm rot="0" flipH="1" flipV="0">
            <a:off x="714889" y="1371420"/>
            <a:ext cx="5725679" cy="323440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№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2.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Децентрализация</a:t>
            </a: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1.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P2P-сеть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cs typeface="Verdana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2.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Распределённое хранение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cs typeface="Verdana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3.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Нодовая инфраструктура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cs typeface="Verdana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4.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Отказоустойчивость</a:t>
            </a:r>
            <a:r>
              <a:rPr/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319103877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4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8</a:t>
            </a:r>
            <a:endParaRPr lang="ru-RU" b="1">
              <a:solidFill>
                <a:schemeClr val="tx1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372355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6331849" y="-19049"/>
            <a:ext cx="5899344" cy="6915150"/>
          </a:xfrm>
          <a:prstGeom prst="rect">
            <a:avLst/>
          </a:prstGeom>
        </p:spPr>
      </p:pic>
      <p:sp>
        <p:nvSpPr>
          <p:cNvPr id="1209241264" name=""/>
          <p:cNvSpPr txBox="1"/>
          <p:nvPr/>
        </p:nvSpPr>
        <p:spPr bwMode="auto">
          <a:xfrm rot="0" flipH="1" flipV="0">
            <a:off x="694964" y="634259"/>
            <a:ext cx="509890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lang="ru-RU" sz="3600">
                <a:latin typeface="URW Gothic"/>
                <a:ea typeface="URW Gothic"/>
                <a:cs typeface="URW Gothic"/>
              </a:rPr>
              <a:t>Возможности решения</a:t>
            </a:r>
            <a:endParaRPr/>
          </a:p>
        </p:txBody>
      </p:sp>
      <p:sp>
        <p:nvSpPr>
          <p:cNvPr id="540993463" name=""/>
          <p:cNvSpPr txBox="1"/>
          <p:nvPr/>
        </p:nvSpPr>
        <p:spPr bwMode="auto">
          <a:xfrm rot="0" flipH="1" flipV="0">
            <a:off x="714889" y="1371420"/>
            <a:ext cx="5738279" cy="3779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№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3.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Расширяемость</a:t>
            </a: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1.Плагиновая система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2.Пользовательские темы и интерфейсы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cs typeface="Verdana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3.Интеграции с внешними сервисами через плагины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4.Кастомные протоколы шифрования для продвинутых пользователей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162562476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4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9</a:t>
            </a:r>
            <a:endParaRPr lang="ru-RU" b="1">
              <a:solidFill>
                <a:schemeClr val="tx1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8001529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6331849" y="-19049"/>
            <a:ext cx="5899344" cy="6915150"/>
          </a:xfrm>
          <a:prstGeom prst="rect">
            <a:avLst/>
          </a:prstGeom>
        </p:spPr>
      </p:pic>
      <p:sp>
        <p:nvSpPr>
          <p:cNvPr id="914205698" name=""/>
          <p:cNvSpPr txBox="1"/>
          <p:nvPr/>
        </p:nvSpPr>
        <p:spPr bwMode="auto">
          <a:xfrm rot="0" flipH="1" flipV="0">
            <a:off x="694964" y="634259"/>
            <a:ext cx="509890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lang="ru-RU" sz="3600">
                <a:latin typeface="URW Gothic"/>
                <a:ea typeface="URW Gothic"/>
                <a:cs typeface="URW Gothic"/>
              </a:rPr>
              <a:t>Возможности решения</a:t>
            </a:r>
            <a:endParaRPr/>
          </a:p>
        </p:txBody>
      </p:sp>
      <p:sp>
        <p:nvSpPr>
          <p:cNvPr id="695339791" name=""/>
          <p:cNvSpPr txBox="1"/>
          <p:nvPr/>
        </p:nvSpPr>
        <p:spPr bwMode="auto">
          <a:xfrm rot="0" flipH="1" flipV="0">
            <a:off x="714889" y="1371420"/>
            <a:ext cx="5785079" cy="3505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№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4.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Общение</a:t>
            </a: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Групповые чаты до 100 участников с групповым шифрованием.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2.Файлообмен с шифрованием.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3.Голосовые сообщения.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4.Видеозвонки.</a:t>
            </a:r>
            <a:endParaRPr/>
          </a:p>
        </p:txBody>
      </p:sp>
      <p:sp>
        <p:nvSpPr>
          <p:cNvPr id="615248001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4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10</a:t>
            </a:r>
            <a:endParaRPr lang="ru-RU" b="1">
              <a:solidFill>
                <a:schemeClr val="tx1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4474027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6331849" y="-19049"/>
            <a:ext cx="5899344" cy="6915150"/>
          </a:xfrm>
          <a:prstGeom prst="rect">
            <a:avLst/>
          </a:prstGeom>
        </p:spPr>
      </p:pic>
      <p:sp>
        <p:nvSpPr>
          <p:cNvPr id="427543460" name=""/>
          <p:cNvSpPr txBox="1"/>
          <p:nvPr/>
        </p:nvSpPr>
        <p:spPr bwMode="auto">
          <a:xfrm rot="0" flipH="1" flipV="0">
            <a:off x="694964" y="634259"/>
            <a:ext cx="509890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lang="ru-RU" sz="3600">
                <a:latin typeface="URW Gothic"/>
                <a:ea typeface="URW Gothic"/>
                <a:cs typeface="URW Gothic"/>
              </a:rPr>
              <a:t>Возможности решения</a:t>
            </a:r>
            <a:endParaRPr/>
          </a:p>
        </p:txBody>
      </p:sp>
      <p:sp>
        <p:nvSpPr>
          <p:cNvPr id="1801684448" name=""/>
          <p:cNvSpPr txBox="1"/>
          <p:nvPr/>
        </p:nvSpPr>
        <p:spPr bwMode="auto">
          <a:xfrm rot="0" flipH="1" flipV="0">
            <a:off x="714889" y="1371420"/>
            <a:ext cx="5761319" cy="2682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№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5.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Анонимность</a:t>
            </a: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Регистрация без номера телефона и email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/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2.Генерация уникального ID на устройстве</a:t>
            </a:r>
            <a:r>
              <a:rPr/>
              <a:t>.</a:t>
            </a:r>
            <a:endParaRPr/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3.Защита от анализа трафика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190121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4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11</a:t>
            </a:r>
            <a:endParaRPr lang="ru-RU" b="1">
              <a:solidFill>
                <a:schemeClr val="tx1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0414865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6331849" y="-19049"/>
            <a:ext cx="5899344" cy="6915150"/>
          </a:xfrm>
          <a:prstGeom prst="rect">
            <a:avLst/>
          </a:prstGeom>
        </p:spPr>
      </p:pic>
      <p:sp>
        <p:nvSpPr>
          <p:cNvPr id="1933399370" name=""/>
          <p:cNvSpPr txBox="1"/>
          <p:nvPr/>
        </p:nvSpPr>
        <p:spPr bwMode="auto">
          <a:xfrm rot="0" flipH="1" flipV="0">
            <a:off x="694964" y="636779"/>
            <a:ext cx="510394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lang="ru-RU" sz="3600">
                <a:latin typeface="URW Gothic"/>
                <a:ea typeface="URW Gothic"/>
                <a:cs typeface="URW Gothic"/>
              </a:rPr>
              <a:t>Технологии</a:t>
            </a:r>
            <a:endParaRPr/>
          </a:p>
        </p:txBody>
      </p:sp>
      <p:sp>
        <p:nvSpPr>
          <p:cNvPr id="320036223" name=""/>
          <p:cNvSpPr txBox="1"/>
          <p:nvPr/>
        </p:nvSpPr>
        <p:spPr bwMode="auto">
          <a:xfrm rot="0" flipH="1" flipV="0">
            <a:off x="714889" y="1371420"/>
            <a:ext cx="5782199" cy="3505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№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1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 Основной стек</a:t>
            </a: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Клиент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DearImGUI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P2P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WebRTC, libp2p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Криптография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Libsodium, Crypto++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Базы данных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SQLite (локально) и PostgreSQL (Сервер)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0614257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4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lang="ru-RU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2</a:t>
            </a:r>
            <a:endParaRPr lang="ru-RU" b="1">
              <a:solidFill>
                <a:schemeClr val="tx1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9516560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6331849" y="-19049"/>
            <a:ext cx="5899344" cy="6915150"/>
          </a:xfrm>
          <a:prstGeom prst="rect">
            <a:avLst/>
          </a:prstGeom>
        </p:spPr>
      </p:pic>
      <p:sp>
        <p:nvSpPr>
          <p:cNvPr id="302298896" name=""/>
          <p:cNvSpPr txBox="1"/>
          <p:nvPr/>
        </p:nvSpPr>
        <p:spPr bwMode="auto">
          <a:xfrm rot="0" flipH="1" flipV="0">
            <a:off x="694964" y="636779"/>
            <a:ext cx="510394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lang="ru-RU" sz="3600">
                <a:latin typeface="URW Gothic"/>
                <a:ea typeface="URW Gothic"/>
                <a:cs typeface="URW Gothic"/>
              </a:rPr>
              <a:t>Технологии</a:t>
            </a:r>
            <a:endParaRPr/>
          </a:p>
        </p:txBody>
      </p:sp>
      <p:sp>
        <p:nvSpPr>
          <p:cNvPr id="1637869123" name=""/>
          <p:cNvSpPr txBox="1"/>
          <p:nvPr/>
        </p:nvSpPr>
        <p:spPr bwMode="auto">
          <a:xfrm rot="0" flipH="1" flipV="0">
            <a:off x="714889" y="1371420"/>
            <a:ext cx="5826839" cy="3231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№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2.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Инфраструктура</a:t>
            </a: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TURN-серверы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DHT-сеть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3.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Пользовательские устройства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4. Центральный сервер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3769409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4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lang="ru-RU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3</a:t>
            </a:r>
            <a:endParaRPr lang="ru-RU" b="1">
              <a:solidFill>
                <a:schemeClr val="tx1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7859254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6331849" y="-19049"/>
            <a:ext cx="5899344" cy="6915150"/>
          </a:xfrm>
          <a:prstGeom prst="rect">
            <a:avLst/>
          </a:prstGeom>
        </p:spPr>
      </p:pic>
      <p:sp>
        <p:nvSpPr>
          <p:cNvPr id="1517356162" name=""/>
          <p:cNvSpPr txBox="1"/>
          <p:nvPr/>
        </p:nvSpPr>
        <p:spPr bwMode="auto">
          <a:xfrm rot="0" flipH="1" flipV="0">
            <a:off x="694964" y="636779"/>
            <a:ext cx="510394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lang="ru-RU" sz="3600">
                <a:latin typeface="URW Gothic"/>
                <a:ea typeface="URW Gothic"/>
                <a:cs typeface="URW Gothic"/>
              </a:rPr>
              <a:t>Технологии</a:t>
            </a:r>
            <a:endParaRPr/>
          </a:p>
        </p:txBody>
      </p:sp>
      <p:sp>
        <p:nvSpPr>
          <p:cNvPr id="736919310" name=""/>
          <p:cNvSpPr txBox="1"/>
          <p:nvPr/>
        </p:nvSpPr>
        <p:spPr bwMode="auto">
          <a:xfrm rot="0" flipH="1" flipV="0">
            <a:off x="714889" y="1371420"/>
            <a:ext cx="5794079" cy="2682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№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3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.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Безопасность</a:t>
            </a:r>
            <a:endParaRPr lang="en-US"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1.Аудит кода.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2.Тестирование.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3.Обновление зависимостей.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5530897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4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14</a:t>
            </a:r>
            <a:endParaRPr lang="ru-RU" b="1">
              <a:solidFill>
                <a:schemeClr val="tx1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621793" name=""/>
          <p:cNvSpPr txBox="1"/>
          <p:nvPr/>
        </p:nvSpPr>
        <p:spPr bwMode="auto">
          <a:xfrm rot="0" flipH="0" flipV="0">
            <a:off x="704308" y="765401"/>
            <a:ext cx="10784098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3600" b="1">
                <a:latin typeface="Comic Sans MS"/>
                <a:ea typeface="Comic Sans MS"/>
                <a:cs typeface="Comic Sans MS"/>
              </a:rPr>
              <a:t>Чтобы</a:t>
            </a:r>
            <a:r>
              <a:rPr lang="en-US" sz="3600" b="1">
                <a:latin typeface="Comic Sans MS"/>
                <a:ea typeface="Comic Sans MS"/>
                <a:cs typeface="Comic Sans MS"/>
              </a:rPr>
              <a:t> </a:t>
            </a:r>
            <a:r>
              <a:rPr lang="ru-RU" sz="3600" b="1">
                <a:latin typeface="Comic Sans MS"/>
                <a:ea typeface="Comic Sans MS"/>
                <a:cs typeface="Comic Sans MS"/>
              </a:rPr>
              <a:t>узнать о проекте больше, перейдите в </a:t>
            </a:r>
            <a:r>
              <a:rPr lang="en-US" sz="3600" b="1">
                <a:latin typeface="Comic Sans MS"/>
                <a:ea typeface="Comic Sans MS"/>
                <a:cs typeface="Comic Sans MS"/>
              </a:rPr>
              <a:t>GitHub </a:t>
            </a:r>
            <a:r>
              <a:rPr lang="ru-RU" sz="3600" b="1">
                <a:latin typeface="Comic Sans MS"/>
                <a:ea typeface="Comic Sans MS"/>
                <a:cs typeface="Comic Sans MS"/>
              </a:rPr>
              <a:t>репозиторий</a:t>
            </a:r>
            <a:r>
              <a:rPr lang="en-US" sz="3600" b="1">
                <a:latin typeface="Comic Sans MS"/>
                <a:ea typeface="Comic Sans MS"/>
                <a:cs typeface="Comic Sans MS"/>
              </a:rPr>
              <a:t>:</a:t>
            </a:r>
            <a:br>
              <a:rPr lang="ru-RU" sz="3600" b="1">
                <a:latin typeface="Comic Sans MS"/>
                <a:ea typeface="Comic Sans MS"/>
                <a:cs typeface="Comic Sans MS"/>
              </a:rPr>
            </a:br>
            <a:r>
              <a:rPr lang="ru-RU" sz="3600" b="1" i="0" u="none" strike="noStrike" cap="none" spc="0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https://github.com/Freontt/qubit-cat</a:t>
            </a:r>
            <a:endParaRPr sz="3600" b="1">
              <a:latin typeface="Comic Sans MS"/>
              <a:cs typeface="Comic Sans MS"/>
            </a:endParaRPr>
          </a:p>
        </p:txBody>
      </p:sp>
      <p:sp>
        <p:nvSpPr>
          <p:cNvPr id="1619661323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3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15</a:t>
            </a:r>
            <a:endParaRPr lang="ru-RU" b="1">
              <a:solidFill>
                <a:schemeClr val="tx1"/>
              </a:solidFill>
              <a:latin typeface="Comic Sans MS"/>
              <a:ea typeface="Comic Sans MS"/>
              <a:cs typeface="Comic Sans MS"/>
            </a:endParaRPr>
          </a:p>
        </p:txBody>
      </p:sp>
      <p:pic>
        <p:nvPicPr>
          <p:cNvPr id="127304556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477108" y="2636383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0">
        <p159:morph option="byObject"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2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45462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alphaModFix amt="40000"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0041745" name=""/>
          <p:cNvPicPr>
            <a:picLocks noChangeAspect="1"/>
          </p:cNvPicPr>
          <p:nvPr/>
        </p:nvPicPr>
        <p:blipFill rotWithShape="1">
          <a:blip r:embed="rId4">
            <a:alphaModFix amt="55000"/>
          </a:blip>
          <a:stretch/>
        </p:blipFill>
        <p:spPr bwMode="auto">
          <a:xfrm flipH="0" flipV="0">
            <a:off x="11320263" y="5603843"/>
            <a:ext cx="854636" cy="1223235"/>
          </a:xfrm>
          <a:prstGeom prst="rect">
            <a:avLst/>
          </a:prstGeom>
        </p:spPr>
      </p:pic>
      <p:sp>
        <p:nvSpPr>
          <p:cNvPr id="239080721" name=""/>
          <p:cNvSpPr txBox="1"/>
          <p:nvPr/>
        </p:nvSpPr>
        <p:spPr bwMode="auto">
          <a:xfrm rot="0" flipH="1" flipV="0">
            <a:off x="714889" y="775739"/>
            <a:ext cx="510754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247019" name=""/>
          <p:cNvSpPr txBox="1"/>
          <p:nvPr/>
        </p:nvSpPr>
        <p:spPr bwMode="auto">
          <a:xfrm rot="0" flipH="1" flipV="0">
            <a:off x="714889" y="1371420"/>
            <a:ext cx="10832079" cy="28350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3600" b="1" i="0" u="none" strike="noStrike" cap="none" spc="0">
                <a:solidFill>
                  <a:schemeClr val="tx1"/>
                </a:solidFill>
                <a:latin typeface="URW Gothic"/>
                <a:ea typeface="URW Gothic"/>
                <a:cs typeface="URW Gothic"/>
              </a:rPr>
              <a:t>Хочешь помочь с развитием проекта?</a:t>
            </a:r>
            <a:endParaRPr sz="3600" b="1" i="0" u="none" strike="noStrike" cap="none" spc="0">
              <a:solidFill>
                <a:schemeClr val="tx1"/>
              </a:solidFill>
              <a:latin typeface="URW Gothic"/>
              <a:cs typeface="URW Gothic"/>
            </a:endParaRPr>
          </a:p>
          <a:p>
            <a:pPr>
              <a:defRPr/>
            </a:pPr>
            <a:br>
              <a:rPr lang="ru-RU" sz="3600" b="1" i="0" u="none" strike="noStrike" cap="none" spc="0">
                <a:solidFill>
                  <a:schemeClr val="tx1"/>
                </a:solidFill>
                <a:latin typeface="URW Gothic"/>
                <a:ea typeface="URW Gothic"/>
                <a:cs typeface="URW Gothic"/>
              </a:rPr>
            </a:br>
            <a:r>
              <a:rPr lang="ru-RU" sz="3600" b="1" i="0" u="none" strike="noStrike" cap="none" spc="0">
                <a:solidFill>
                  <a:schemeClr val="tx1"/>
                </a:solidFill>
                <a:latin typeface="URW Gothic"/>
                <a:ea typeface="URW Gothic"/>
                <a:cs typeface="URW Gothic"/>
              </a:rPr>
              <a:t>Тогда пиши в ТГ </a:t>
            </a:r>
            <a:r>
              <a:rPr lang="en-US" sz="3600" b="1" i="0" u="none" strike="noStrike" cap="none" spc="0">
                <a:solidFill>
                  <a:schemeClr val="tx1"/>
                </a:solidFill>
                <a:latin typeface="URW Gothic"/>
                <a:ea typeface="URW Gothic"/>
                <a:cs typeface="URW Gothic"/>
              </a:rPr>
              <a:t>- </a:t>
            </a:r>
            <a:r>
              <a:rPr lang="en-US" sz="3600" b="1" i="0" u="none" strike="noStrike" cap="none" spc="0">
                <a:solidFill>
                  <a:schemeClr val="tx1"/>
                </a:solidFill>
                <a:latin typeface="URW Gothic"/>
                <a:ea typeface="URW Gothic"/>
                <a:cs typeface="URW Gothic"/>
              </a:rPr>
              <a:t>@Freontt.</a:t>
            </a:r>
            <a:endParaRPr sz="3600" b="1" i="0" u="none" strike="noStrike" cap="none" spc="0">
              <a:solidFill>
                <a:schemeClr val="tx1"/>
              </a:solidFill>
              <a:latin typeface="URW Gothic"/>
              <a:cs typeface="URW Gothic"/>
            </a:endParaRPr>
          </a:p>
          <a:p>
            <a:pPr>
              <a:defRPr/>
            </a:pPr>
            <a:endParaRPr sz="3600" b="1" i="0" u="none" strike="noStrike" cap="none" spc="0">
              <a:solidFill>
                <a:schemeClr val="tx1"/>
              </a:solidFill>
              <a:latin typeface="URW Gothic"/>
              <a:cs typeface="URW Gothic"/>
            </a:endParaRPr>
          </a:p>
          <a:p>
            <a:pPr>
              <a:defRPr/>
            </a:pPr>
            <a:r>
              <a:rPr lang="ru-RU" sz="3600" b="1" i="0" u="none" strike="noStrike" cap="none" spc="0">
                <a:solidFill>
                  <a:schemeClr val="tx1"/>
                </a:solidFill>
                <a:latin typeface="URW Gothic"/>
                <a:ea typeface="URW Gothic"/>
                <a:cs typeface="URW Gothic"/>
              </a:rPr>
              <a:t>Буду очень</a:t>
            </a:r>
            <a:r>
              <a:rPr lang="ru-RU" sz="3600" b="1" i="0" u="none" strike="noStrike" cap="none" spc="0">
                <a:solidFill>
                  <a:schemeClr val="tx1"/>
                </a:solidFill>
                <a:latin typeface="URW Gothic"/>
                <a:ea typeface="URW Gothic"/>
                <a:cs typeface="URW Gothic"/>
              </a:rPr>
              <a:t> рад новым</a:t>
            </a:r>
            <a:r>
              <a:rPr lang="ru-RU" sz="3600" b="1" i="0" u="none" strike="noStrike" cap="none" spc="0">
                <a:solidFill>
                  <a:schemeClr val="tx1"/>
                </a:solidFill>
                <a:latin typeface="URW Gothic"/>
                <a:ea typeface="URW Gothic"/>
                <a:cs typeface="URW Gothic"/>
              </a:rPr>
              <a:t> </a:t>
            </a:r>
            <a:r>
              <a:rPr lang="ru-RU" sz="3600" b="1" i="0" u="none" strike="noStrike" cap="none" spc="0">
                <a:solidFill>
                  <a:schemeClr val="tx1"/>
                </a:solidFill>
                <a:latin typeface="URW Gothic"/>
                <a:ea typeface="URW Gothic"/>
                <a:cs typeface="URW Gothic"/>
              </a:rPr>
              <a:t>коллегам</a:t>
            </a:r>
            <a:r>
              <a:rPr lang="ru-RU" sz="3600" b="1" i="0" u="none" strike="noStrike" cap="none" spc="0">
                <a:solidFill>
                  <a:schemeClr val="tx1"/>
                </a:solidFill>
                <a:latin typeface="URW Gothic"/>
                <a:ea typeface="URW Gothic"/>
                <a:cs typeface="URW Gothic"/>
              </a:rPr>
              <a:t> и вашим идеям!</a:t>
            </a:r>
            <a:endParaRPr sz="2200" b="1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983681405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5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16</a:t>
            </a:r>
            <a:endParaRPr lang="ru-RU" b="1">
              <a:solidFill>
                <a:schemeClr val="tx1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188264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5333999" y="0"/>
            <a:ext cx="6857999" cy="6857999"/>
          </a:xfrm>
          <a:prstGeom prst="rect">
            <a:avLst/>
          </a:prstGeom>
          <a:blipFill>
            <a:blip r:embed="rId4"/>
            <a:tile/>
          </a:blipFill>
        </p:spPr>
      </p:pic>
      <p:sp>
        <p:nvSpPr>
          <p:cNvPr id="1019678994" name=""/>
          <p:cNvSpPr txBox="1"/>
          <p:nvPr/>
        </p:nvSpPr>
        <p:spPr bwMode="auto">
          <a:xfrm rot="0" flipH="0" flipV="0">
            <a:off x="1406489" y="3017340"/>
            <a:ext cx="3206279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4800" b="1">
                <a:latin typeface="Comic Sans MS"/>
                <a:cs typeface="Comic Sans MS"/>
              </a:rPr>
              <a:t>Вопросы?</a:t>
            </a:r>
            <a:endParaRPr sz="4800" b="1">
              <a:latin typeface="Comic Sans MS"/>
              <a:cs typeface="Comic Sans MS"/>
            </a:endParaRPr>
          </a:p>
        </p:txBody>
      </p:sp>
      <p:sp>
        <p:nvSpPr>
          <p:cNvPr id="208768024" name=""/>
          <p:cNvSpPr/>
          <p:nvPr/>
        </p:nvSpPr>
        <p:spPr bwMode="auto">
          <a:xfrm rot="0" flipH="0" flipV="0">
            <a:off x="516298" y="5657848"/>
            <a:ext cx="857250" cy="838197"/>
          </a:xfrm>
          <a:prstGeom prst="flowChartProcess">
            <a:avLst/>
          </a:prstGeom>
          <a:blipFill>
            <a:blip r:embed="rId5">
              <a:alphaModFix amt="24999"/>
            </a:blip>
            <a:stretch/>
          </a:blip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17</a:t>
            </a:r>
            <a:endParaRPr lang="ru-RU" b="1">
              <a:solidFill>
                <a:schemeClr val="tx1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2025-12-22T20:38:00Z</dcterms:modified>
</cp:coreProperties>
</file>